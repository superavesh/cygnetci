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F46E5"/>
                </a:solidFill>
                <a:latin typeface="Segoe UI"/>
              </a:rPr>
              <a:t>Data Flow Diagram — Level 0 (Context)</a:t>
            </a:r>
          </a:p>
          <a:p>
            <a:r>
              <a:rPr sz="1250">
                <a:solidFill>
                  <a:srgbClr val="64748B"/>
                </a:solidFill>
                <a:latin typeface="Segoe UI"/>
              </a:rPr>
              <a:t>CygnetCI as a single process interacting with external entities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880360"/>
            <a:ext cx="2834640" cy="13716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4F46E5"/>
                </a:solidFill>
                <a:latin typeface="Segoe UI"/>
              </a:rPr>
              <a:t>CygnetCI</a:t>
            </a:r>
          </a:p>
          <a:p>
            <a:pPr algn="ctr"/>
            <a:r>
              <a:rPr sz="1150" b="0">
                <a:solidFill>
                  <a:srgbClr val="64748B"/>
                </a:solidFill>
                <a:latin typeface="Segoe UI"/>
              </a:rPr>
              <a:t>Deployment &amp; Monitoring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194560" cy="9144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>
                <a:solidFill>
                  <a:srgbClr val="1F2937"/>
                </a:solidFill>
                <a:latin typeface="Segoe UI"/>
              </a:rPr>
              <a:t>🧑 Operator /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63440"/>
            <a:ext cx="2194560" cy="9144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>
                <a:solidFill>
                  <a:srgbClr val="1F2937"/>
                </a:solidFill>
                <a:latin typeface="Segoe UI"/>
              </a:rPr>
              <a:t>✔ Approver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188720"/>
            <a:ext cx="2286000" cy="91440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>
                <a:solidFill>
                  <a:srgbClr val="1F2937"/>
                </a:solidFill>
                <a:latin typeface="Segoe UI"/>
              </a:rPr>
              <a:t>🤖 Client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4663440"/>
            <a:ext cx="2286000" cy="914400"/>
          </a:xfrm>
          <a:prstGeom prst="roundRect">
            <a:avLst/>
          </a:prstGeom>
          <a:solidFill>
            <a:srgbClr val="CFFAFE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☸ Kubernetes / Nexus / ArgoCD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5623560"/>
            <a:ext cx="2377440" cy="8229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📧 Email / 🎫 Tickets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2103120"/>
            <a:ext cx="3840480" cy="1005840"/>
          </a:xfrm>
          <a:prstGeom prst="line">
            <a:avLst/>
          </a:prstGeom>
          <a:ln w="22225">
            <a:solidFill>
              <a:srgbClr val="3B82F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77440" y="2148840"/>
            <a:ext cx="274320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3B82F6"/>
                </a:solidFill>
                <a:latin typeface="Segoe UI"/>
              </a:rPr>
              <a:t>deploy / configure  •  dashboard, logs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737360" y="3840480"/>
            <a:ext cx="3749040" cy="822960"/>
          </a:xfrm>
          <a:prstGeom prst="line">
            <a:avLst/>
          </a:prstGeom>
          <a:ln w="22225">
            <a:solidFill>
              <a:srgbClr val="059669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77440" y="4206240"/>
            <a:ext cx="274320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059669"/>
                </a:solidFill>
                <a:latin typeface="Segoe UI"/>
              </a:rPr>
              <a:t>approve / reject stage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360920" y="1691640"/>
            <a:ext cx="1965960" cy="1371600"/>
          </a:xfrm>
          <a:prstGeom prst="line">
            <a:avLst/>
          </a:prstGeom>
          <a:ln w="22225">
            <a:solidFill>
              <a:srgbClr val="EA580C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40880" y="2011680"/>
            <a:ext cx="274320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EA580C"/>
                </a:solidFill>
                <a:latin typeface="Segoe UI"/>
              </a:rPr>
              <a:t>poll jobs / report (HTTPS)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52360" y="3749039"/>
            <a:ext cx="2057400" cy="960121"/>
          </a:xfrm>
          <a:prstGeom prst="line">
            <a:avLst/>
          </a:prstGeom>
          <a:ln w="22225">
            <a:solidFill>
              <a:srgbClr val="06B6D4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80960" y="4160520"/>
            <a:ext cx="274320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Segoe UI"/>
              </a:rPr>
              <a:t>build / push / sync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59" y="4251960"/>
            <a:ext cx="0" cy="1371600"/>
          </a:xfrm>
          <a:prstGeom prst="line">
            <a:avLst/>
          </a:prstGeom>
          <a:ln w="22225">
            <a:solidFill>
              <a:srgbClr val="F59E0B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0" y="4846320"/>
            <a:ext cx="201168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Segoe UI"/>
              </a:rPr>
              <a:t>alerts / tickets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F46E5"/>
                </a:solidFill>
                <a:latin typeface="Segoe UI"/>
              </a:rPr>
              <a:t>Data Flow Diagram — Level 1</a:t>
            </a:r>
          </a:p>
          <a:p>
            <a:r>
              <a:rPr sz="1250">
                <a:solidFill>
                  <a:srgbClr val="64748B"/>
                </a:solidFill>
                <a:latin typeface="Segoe UI"/>
              </a:rPr>
              <a:t>Major processes, data stores and 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88920"/>
            <a:ext cx="1463040" cy="10058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>
                <a:solidFill>
                  <a:srgbClr val="1F2937"/>
                </a:solidFill>
                <a:latin typeface="Segoe UI"/>
              </a:rPr>
              <a:t>🧑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788920"/>
            <a:ext cx="1371600" cy="100584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🤖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234440"/>
            <a:ext cx="2103120" cy="9144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>
                <a:solidFill>
                  <a:srgbClr val="7C3AED"/>
                </a:solidFill>
                <a:latin typeface="Segoe UI"/>
              </a:rPr>
              <a:t>1.0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Auth &amp; RBAC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788920"/>
            <a:ext cx="2103120" cy="100584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>
                <a:solidFill>
                  <a:srgbClr val="4F46E5"/>
                </a:solidFill>
                <a:latin typeface="Segoe UI"/>
              </a:rPr>
              <a:t>2.0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Pipeline &amp; Release Mgmt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2788920"/>
            <a:ext cx="2103120" cy="100584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>
                <a:solidFill>
                  <a:srgbClr val="4F46E5"/>
                </a:solidFill>
                <a:latin typeface="Segoe UI"/>
              </a:rPr>
              <a:t>3.0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Job Dispatch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34440"/>
            <a:ext cx="2286000" cy="96012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>
                <a:solidFill>
                  <a:srgbClr val="EA580C"/>
                </a:solidFill>
                <a:latin typeface="Segoe UI"/>
              </a:rPr>
              <a:t>4.0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Execute on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09160"/>
            <a:ext cx="2286000" cy="960120"/>
          </a:xfrm>
          <a:prstGeom prst="roundRect">
            <a:avLst/>
          </a:prstGeom>
          <a:solidFill>
            <a:srgbClr val="CFFAFE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>
                <a:solidFill>
                  <a:srgbClr val="06B6D4"/>
                </a:solidFill>
                <a:latin typeface="Segoe UI"/>
              </a:rPr>
              <a:t>5.0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Monitoring Ingest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4709160"/>
            <a:ext cx="2103120" cy="9601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>
                <a:solidFill>
                  <a:srgbClr val="059669"/>
                </a:solidFill>
                <a:latin typeface="Segoe UI"/>
              </a:rPr>
              <a:t>6.0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Dashboard &amp; Alerts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4846320"/>
            <a:ext cx="2103120" cy="594360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64748B"/>
                </a:solidFill>
                <a:latin typeface="Segoe UI"/>
              </a:rPr>
              <a:t>D1 · Pipelines / Releases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331720"/>
            <a:ext cx="2286000" cy="566928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64748B"/>
                </a:solidFill>
                <a:latin typeface="Segoe UI"/>
              </a:rPr>
              <a:t>D2 · Execution Logs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5897880"/>
            <a:ext cx="2286000" cy="566928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64748B"/>
                </a:solidFill>
                <a:latin typeface="Segoe UI"/>
              </a:rPr>
              <a:t>D3 · Monitoring Data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188720" y="2148840"/>
            <a:ext cx="2240280" cy="777239"/>
          </a:xfrm>
          <a:prstGeom prst="line">
            <a:avLst/>
          </a:prstGeom>
          <a:ln w="22225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00200" y="1783080"/>
            <a:ext cx="109728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800" b="0">
                <a:solidFill>
                  <a:srgbClr val="7C3AED"/>
                </a:solidFill>
                <a:latin typeface="Segoe UI"/>
              </a:rPr>
              <a:t>login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3291839"/>
            <a:ext cx="457200" cy="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37360" y="2926080"/>
            <a:ext cx="128016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define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29000" y="3794760"/>
            <a:ext cx="0" cy="105156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0" y="4114800"/>
            <a:ext cx="182880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store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80560" y="3291839"/>
            <a:ext cx="594360" cy="0"/>
          </a:xfrm>
          <a:prstGeom prst="line">
            <a:avLst/>
          </a:prstGeom>
          <a:ln w="22225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06240" y="2487168"/>
            <a:ext cx="173736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800" b="0">
                <a:solidFill>
                  <a:srgbClr val="4F46E5"/>
                </a:solidFill>
                <a:latin typeface="Segoe UI"/>
              </a:rPr>
              <a:t>queue job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178040" y="3291839"/>
            <a:ext cx="3931920" cy="0"/>
          </a:xfrm>
          <a:prstGeom prst="line">
            <a:avLst/>
          </a:prstGeom>
          <a:ln w="22225">
            <a:solidFill>
              <a:srgbClr val="EA580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23760" y="3310128"/>
            <a:ext cx="201168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Segoe UI"/>
              </a:rPr>
              <a:t>poll (HTTPS)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126479" y="2194560"/>
            <a:ext cx="2743201" cy="594360"/>
          </a:xfrm>
          <a:prstGeom prst="line">
            <a:avLst/>
          </a:prstGeom>
          <a:ln w="22225">
            <a:solidFill>
              <a:srgbClr val="EA580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26480" y="2148840"/>
            <a:ext cx="219456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Segoe UI"/>
              </a:rPr>
              <a:t>pickup + artifacts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81160" y="2194560"/>
            <a:ext cx="0" cy="13716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32520" y="1847088"/>
            <a:ext cx="182880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logs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9281160" y="3657599"/>
            <a:ext cx="1828800" cy="1051561"/>
          </a:xfrm>
          <a:prstGeom prst="line">
            <a:avLst/>
          </a:prstGeom>
          <a:ln w="22225">
            <a:solidFill>
              <a:srgbClr val="06B6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281160" y="3977639"/>
            <a:ext cx="182880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800" b="0">
                <a:solidFill>
                  <a:srgbClr val="06B6D4"/>
                </a:solidFill>
                <a:latin typeface="Segoe UI"/>
              </a:rPr>
              <a:t>report metrics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81160" y="5669280"/>
            <a:ext cx="0" cy="22860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32520" y="5486400"/>
            <a:ext cx="182880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store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178040" y="5189220"/>
            <a:ext cx="960120" cy="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086600" y="4526280"/>
            <a:ext cx="146304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800" b="0">
                <a:solidFill>
                  <a:srgbClr val="059669"/>
                </a:solidFill>
                <a:latin typeface="Segoe UI"/>
              </a:rPr>
              <a:t>metrics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1371600" y="3794759"/>
            <a:ext cx="4206240" cy="891541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4343400"/>
            <a:ext cx="219456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800" b="0">
                <a:solidFill>
                  <a:srgbClr val="059669"/>
                </a:solidFill>
                <a:latin typeface="Segoe UI"/>
              </a:rPr>
              <a:t>render dashboard /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F46E5"/>
                </a:solidFill>
                <a:latin typeface="Segoe UI"/>
              </a:rPr>
              <a:t>Entity-Relationship Diagram (ERD)</a:t>
            </a:r>
          </a:p>
          <a:p>
            <a:r>
              <a:rPr sz="1250">
                <a:solidFill>
                  <a:srgbClr val="64748B"/>
                </a:solidFill>
                <a:latin typeface="Segoe UI"/>
              </a:rPr>
              <a:t>Principal entities and their relationships (simplified)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3774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CUSTOMER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377440" cy="3108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2377440" cy="8595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PK  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name, tenant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88720"/>
            <a:ext cx="23774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377440" cy="31089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17904"/>
            <a:ext cx="2377440" cy="8595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PK  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FK  customer_id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uuid,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23774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AGENT_RESOURCE_DATA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2377440" cy="3108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AGENT_RESOURCE_DATA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17904"/>
            <a:ext cx="2377440" cy="8595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PK  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FK  agent_id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cpu, mem, disk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188720"/>
            <a:ext cx="23774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ROLLBACK_SCRIPT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188720"/>
            <a:ext cx="2377440" cy="31089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ROLLBACK_SCRIPT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517904"/>
            <a:ext cx="2377440" cy="8595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PK  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name, sql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1:N db_objects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23774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USER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46120"/>
            <a:ext cx="2377440" cy="3108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75303"/>
            <a:ext cx="2377440" cy="9052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PK  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FK  role_id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username, hash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246120"/>
            <a:ext cx="23774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3246120"/>
            <a:ext cx="2377440" cy="3108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575303"/>
            <a:ext cx="2377440" cy="9052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PK  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name, branch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steps, params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246120"/>
            <a:ext cx="23774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RELEASE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246120"/>
            <a:ext cx="2377440" cy="3108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75303"/>
            <a:ext cx="2377440" cy="9052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PK  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FK  env_id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name, stages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246120"/>
            <a:ext cx="23774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ARTIFACT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3246120"/>
            <a:ext cx="2377440" cy="3108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ARTIFACT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575303"/>
            <a:ext cx="2377440" cy="9052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PK  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FK  release_id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checksum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57800"/>
            <a:ext cx="2377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ROLE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257800"/>
            <a:ext cx="2377440" cy="31089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586984"/>
            <a:ext cx="2377440" cy="6309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PK  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name, perms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5257800"/>
            <a:ext cx="2377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PIPELINE_EXECUTION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5257800"/>
            <a:ext cx="2377440" cy="3108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PIPELINE_EXECUTION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586984"/>
            <a:ext cx="2377440" cy="6309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PK  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FK  pipeline_id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status, logs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57800"/>
            <a:ext cx="2377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RELEASE_EXECUTION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257800"/>
            <a:ext cx="2377440" cy="3108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RELEASE_EXECUTION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586984"/>
            <a:ext cx="2377440" cy="6309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PK  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FK  release_id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status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5257800"/>
            <a:ext cx="2377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AUDIT_LOG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0" y="5257800"/>
            <a:ext cx="2377440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AUDIT_LOG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5586984"/>
            <a:ext cx="2377440" cy="6309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PK  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FK  user_id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action, ts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926080" y="1783080"/>
            <a:ext cx="457200" cy="0"/>
          </a:xfrm>
          <a:prstGeom prst="line">
            <a:avLst/>
          </a:prstGeom>
          <a:ln w="19050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44368" y="1527048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27248" y="1527048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EA580C"/>
                </a:solidFill>
                <a:latin typeface="Segoe UI"/>
              </a:rPr>
              <a:t>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60720" y="1783080"/>
            <a:ext cx="457200" cy="0"/>
          </a:xfrm>
          <a:prstGeom prst="line">
            <a:avLst/>
          </a:prstGeom>
          <a:ln w="1905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79008" y="1527048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1527048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Segoe UI"/>
              </a:rPr>
              <a:t>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595360" y="3858768"/>
            <a:ext cx="457200" cy="0"/>
          </a:xfrm>
          <a:prstGeom prst="line">
            <a:avLst/>
          </a:prstGeom>
          <a:ln w="19050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613648" y="3602735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96528" y="3602735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059669"/>
                </a:solidFill>
                <a:latin typeface="Segoe UI"/>
              </a:rPr>
              <a:t>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737360" y="2377440"/>
            <a:ext cx="0" cy="868680"/>
          </a:xfrm>
          <a:prstGeom prst="line">
            <a:avLst/>
          </a:prstGeom>
          <a:ln w="1905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792224" y="2395728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2990087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3B82F6"/>
                </a:solidFill>
                <a:latin typeface="Segoe UI"/>
              </a:rPr>
              <a:t>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737360" y="4480560"/>
            <a:ext cx="0" cy="777240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792224" y="4498848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92224" y="5001768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2000" y="4480560"/>
            <a:ext cx="0" cy="777240"/>
          </a:xfrm>
          <a:prstGeom prst="line">
            <a:avLst/>
          </a:prstGeom>
          <a:ln w="19050">
            <a:solidFill>
              <a:srgbClr val="4F46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626864" y="4498848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26864" y="5001768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4F46E5"/>
                </a:solidFill>
                <a:latin typeface="Segoe UI"/>
              </a:rPr>
              <a:t>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406640" y="4480560"/>
            <a:ext cx="0" cy="777240"/>
          </a:xfrm>
          <a:prstGeom prst="line">
            <a:avLst/>
          </a:prstGeom>
          <a:ln w="19050">
            <a:solidFill>
              <a:srgbClr val="7C3A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61504" y="4498848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61504" y="5001768"/>
            <a:ext cx="274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Note:  USER ↔ CUSTOMER is many-to-many via USER_CUSTOMER  •  AUDIT_LOG references USER  •  ROLLBACK_SCRIPT 1:N ROLLBACK_DATABASE_OBJECT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F46E5"/>
                </a:solidFill>
                <a:latin typeface="Segoe UI"/>
              </a:rPr>
              <a:t>Use Case Diagram</a:t>
            </a:r>
          </a:p>
          <a:p>
            <a:r>
              <a:rPr sz="1250">
                <a:solidFill>
                  <a:srgbClr val="64748B"/>
                </a:solidFill>
                <a:latin typeface="Segoe UI"/>
              </a:rPr>
              <a:t>Actors and the use cases they interact with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914400"/>
            <a:ext cx="4114800" cy="5623560"/>
          </a:xfrm>
          <a:prstGeom prst="roundRect">
            <a:avLst/>
          </a:prstGeom>
          <a:solidFill>
            <a:srgbClr val="FBFC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4F46E5"/>
                </a:solidFill>
                <a:latin typeface="Segoe UI"/>
              </a:rPr>
              <a:t>CygnetCI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16002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🧑 Operator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892040"/>
            <a:ext cx="16002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🛠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6002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✔ Approver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5806440"/>
            <a:ext cx="16002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🤖 Agent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1389888"/>
            <a:ext cx="3566160" cy="329184"/>
          </a:xfrm>
          <a:prstGeom prst="ellipse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Login / Authenticate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057400" y="1554480"/>
            <a:ext cx="2103120" cy="1005840"/>
          </a:xfrm>
          <a:prstGeom prst="line">
            <a:avLst/>
          </a:prstGeom>
          <a:ln w="127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160520" y="1755648"/>
            <a:ext cx="3566160" cy="329184"/>
          </a:xfrm>
          <a:prstGeom prst="ellipse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Manage Agents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057400" y="1920240"/>
            <a:ext cx="2103120" cy="640080"/>
          </a:xfrm>
          <a:prstGeom prst="line">
            <a:avLst/>
          </a:prstGeom>
          <a:ln w="127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160520" y="2121408"/>
            <a:ext cx="3566160" cy="329184"/>
          </a:xfrm>
          <a:prstGeom prst="ellipse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Run Pipeline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057400" y="2286000"/>
            <a:ext cx="2103120" cy="274320"/>
          </a:xfrm>
          <a:prstGeom prst="line">
            <a:avLst/>
          </a:prstGeom>
          <a:ln w="127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160520" y="2487168"/>
            <a:ext cx="3566160" cy="329184"/>
          </a:xfrm>
          <a:prstGeom prst="ellipse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Deploy Release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57400" y="2560320"/>
            <a:ext cx="2103120" cy="91440"/>
          </a:xfrm>
          <a:prstGeom prst="line">
            <a:avLst/>
          </a:prstGeom>
          <a:ln w="127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160520" y="2852928"/>
            <a:ext cx="3566160" cy="329184"/>
          </a:xfrm>
          <a:prstGeom prst="ellipse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Deploy to Kubernetes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57400" y="2560320"/>
            <a:ext cx="2103120" cy="457200"/>
          </a:xfrm>
          <a:prstGeom prst="line">
            <a:avLst/>
          </a:prstGeom>
          <a:ln w="127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160520" y="3218688"/>
            <a:ext cx="3566160" cy="329184"/>
          </a:xfrm>
          <a:prstGeom prst="ellipse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View Monitoring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57400" y="2560320"/>
            <a:ext cx="2103120" cy="822960"/>
          </a:xfrm>
          <a:prstGeom prst="line">
            <a:avLst/>
          </a:prstGeom>
          <a:ln w="127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160520" y="3584448"/>
            <a:ext cx="3566160" cy="329184"/>
          </a:xfrm>
          <a:prstGeom prst="ellipse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Control Services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57400" y="2560320"/>
            <a:ext cx="2103120" cy="1188720"/>
          </a:xfrm>
          <a:prstGeom prst="line">
            <a:avLst/>
          </a:prstGeom>
          <a:ln w="127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160520" y="3950208"/>
            <a:ext cx="3566160" cy="329184"/>
          </a:xfrm>
          <a:prstGeom prst="ellipse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Transfer Files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57400" y="2560320"/>
            <a:ext cx="2103120" cy="1554480"/>
          </a:xfrm>
          <a:prstGeom prst="line">
            <a:avLst/>
          </a:prstGeom>
          <a:ln w="127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160520" y="4315968"/>
            <a:ext cx="3566160" cy="329184"/>
          </a:xfrm>
          <a:prstGeom prst="ellipse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Manage Rollbacks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057400" y="2560320"/>
            <a:ext cx="2103120" cy="1920240"/>
          </a:xfrm>
          <a:prstGeom prst="line">
            <a:avLst/>
          </a:prstGeom>
          <a:ln w="127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160520" y="4681728"/>
            <a:ext cx="3566160" cy="329184"/>
          </a:xfrm>
          <a:prstGeom prst="ellipse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Track Tickets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57400" y="2560320"/>
            <a:ext cx="2103120" cy="2286000"/>
          </a:xfrm>
          <a:prstGeom prst="line">
            <a:avLst/>
          </a:prstGeom>
          <a:ln w="127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160520" y="5047488"/>
            <a:ext cx="3566160" cy="329184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7C3AED"/>
                </a:solidFill>
                <a:latin typeface="Segoe UI"/>
              </a:rPr>
              <a:t>View Audit Logs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057400" y="5212079"/>
            <a:ext cx="2103120" cy="91441"/>
          </a:xfrm>
          <a:prstGeom prst="line">
            <a:avLst/>
          </a:prstGeom>
          <a:ln w="12700">
            <a:solidFill>
              <a:srgbClr val="7C3A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160520" y="5413248"/>
            <a:ext cx="3566160" cy="329184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7C3AED"/>
                </a:solidFill>
                <a:latin typeface="Segoe UI"/>
              </a:rPr>
              <a:t>Manage Users / Roles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057400" y="5303520"/>
            <a:ext cx="2103120" cy="274320"/>
          </a:xfrm>
          <a:prstGeom prst="line">
            <a:avLst/>
          </a:prstGeom>
          <a:ln w="12700">
            <a:solidFill>
              <a:srgbClr val="7C3A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160520" y="5779008"/>
            <a:ext cx="3566160" cy="329184"/>
          </a:xfrm>
          <a:prstGeom prst="ellipse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059669"/>
                </a:solidFill>
                <a:latin typeface="Segoe UI"/>
              </a:rPr>
              <a:t>Approve / Reject Stage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2057400" y="5943600"/>
            <a:ext cx="2103120" cy="201168"/>
          </a:xfrm>
          <a:prstGeom prst="line">
            <a:avLst/>
          </a:prstGeom>
          <a:ln w="12700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160520" y="6144768"/>
            <a:ext cx="3566160" cy="329184"/>
          </a:xfrm>
          <a:prstGeom prst="ellipse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EA580C"/>
                </a:solidFill>
                <a:latin typeface="Segoe UI"/>
              </a:rPr>
              <a:t>Register • Poll • Report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726679" y="6144768"/>
            <a:ext cx="2423161" cy="164592"/>
          </a:xfrm>
          <a:prstGeom prst="line">
            <a:avLst/>
          </a:prstGeom>
          <a:ln w="13970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F46E5"/>
                </a:solidFill>
                <a:latin typeface="Segoe UI"/>
              </a:rPr>
              <a:t>Activity Diagram — Release Deployment</a:t>
            </a:r>
          </a:p>
          <a:p>
            <a:r>
              <a:rPr sz="1250">
                <a:solidFill>
                  <a:srgbClr val="64748B"/>
                </a:solidFill>
                <a:latin typeface="Segoe UI"/>
              </a:rPr>
              <a:t>Flow of actions from trigger to completion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0" y="868680"/>
            <a:ext cx="1463040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059669"/>
                </a:solidFill>
                <a:latin typeface="Segoe UI"/>
              </a:rPr>
              <a:t>●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600200"/>
            <a:ext cx="2377440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Operator triggers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468880"/>
            <a:ext cx="2743200" cy="64008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API creates Release +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Stage Executions</a:t>
            </a:r>
          </a:p>
        </p:txBody>
      </p:sp>
      <p:sp>
        <p:nvSpPr>
          <p:cNvPr id="7" name="Diamond 6"/>
          <p:cNvSpPr/>
          <p:nvPr/>
        </p:nvSpPr>
        <p:spPr>
          <a:xfrm>
            <a:off x="5074920" y="3337560"/>
            <a:ext cx="2103120" cy="86868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1F2937"/>
                </a:solidFill>
                <a:latin typeface="Segoe UI"/>
              </a:rPr>
              <a:t>Stage needs</a:t>
            </a:r>
          </a:p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approval?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383280"/>
            <a:ext cx="2377440" cy="731520"/>
          </a:xfrm>
          <a:prstGeom prst="roundRect">
            <a:avLst/>
          </a:prstGeom>
          <a:solidFill>
            <a:srgbClr val="FFE4E6"/>
          </a:solidFill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1F2937"/>
                </a:solidFill>
                <a:latin typeface="Segoe UI"/>
              </a:rPr>
              <a:t>Wait for Approver</a:t>
            </a:r>
          </a:p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(reject → Abort)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4434840"/>
            <a:ext cx="2560320" cy="6400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1F2937"/>
                </a:solidFill>
                <a:latin typeface="Segoe UI"/>
              </a:rPr>
              <a:t>Queue pickup → Agent polls,</a:t>
            </a:r>
          </a:p>
          <a:p>
            <a:pPr algn="ctr"/>
            <a:r>
              <a:rPr sz="750" b="0">
                <a:solidFill>
                  <a:srgbClr val="64748B"/>
                </a:solidFill>
                <a:latin typeface="Segoe UI"/>
              </a:rPr>
              <a:t>downloads + checksum</a:t>
            </a:r>
          </a:p>
        </p:txBody>
      </p:sp>
      <p:sp>
        <p:nvSpPr>
          <p:cNvPr id="10" name="Diamond 9"/>
          <p:cNvSpPr/>
          <p:nvPr/>
        </p:nvSpPr>
        <p:spPr>
          <a:xfrm>
            <a:off x="5074920" y="5257800"/>
            <a:ext cx="2103120" cy="822960"/>
          </a:xfrm>
          <a:prstGeom prst="diamond">
            <a:avLst/>
          </a:prstGeom>
          <a:solidFill>
            <a:srgbClr val="CFFAFE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1F2937"/>
                </a:solidFill>
                <a:latin typeface="Segoe UI"/>
              </a:rPr>
              <a:t>Kubernetes</a:t>
            </a:r>
          </a:p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target?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5120640"/>
            <a:ext cx="3840480" cy="640080"/>
          </a:xfrm>
          <a:prstGeom prst="roundRect">
            <a:avLst/>
          </a:prstGeom>
          <a:solidFill>
            <a:srgbClr val="CFFAFE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>
                <a:solidFill>
                  <a:srgbClr val="1F2937"/>
                </a:solidFill>
                <a:latin typeface="Segoe UI"/>
              </a:rPr>
              <a:t>Docker build → Nexus push → ArgoCD patch + 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120640"/>
            <a:ext cx="3840480" cy="6400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>
                <a:solidFill>
                  <a:srgbClr val="1F2937"/>
                </a:solidFill>
                <a:latin typeface="Segoe UI"/>
              </a:rPr>
              <a:t>Run stop / deploy / start scripts (PowerShell / Bash)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6217920"/>
            <a:ext cx="1737360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059669"/>
                </a:solidFill>
                <a:latin typeface="Segoe UI"/>
              </a:rPr>
              <a:t>◉ Deployed / End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0" y="1371600"/>
            <a:ext cx="0" cy="22860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26480" y="2240280"/>
            <a:ext cx="0" cy="22860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126479" y="3108960"/>
            <a:ext cx="1" cy="22860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178040" y="3749040"/>
            <a:ext cx="777239" cy="22860"/>
          </a:xfrm>
          <a:prstGeom prst="line">
            <a:avLst/>
          </a:prstGeom>
          <a:ln w="22225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23760" y="3108960"/>
            <a:ext cx="7315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Segoe UI"/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79" y="4206240"/>
            <a:ext cx="0" cy="22860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9360" y="4160520"/>
            <a:ext cx="7315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059669"/>
                </a:solidFill>
                <a:latin typeface="Segoe UI"/>
              </a:rP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949440" y="4114800"/>
            <a:ext cx="2194559" cy="32004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80960" y="4160520"/>
            <a:ext cx="109728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059669"/>
                </a:solidFill>
                <a:latin typeface="Segoe UI"/>
              </a:rPr>
              <a:t>approve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79" y="5074920"/>
            <a:ext cx="0" cy="18288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178040" y="5440679"/>
            <a:ext cx="777239" cy="228601"/>
          </a:xfrm>
          <a:prstGeom prst="line">
            <a:avLst/>
          </a:prstGeom>
          <a:ln w="22225">
            <a:solidFill>
              <a:srgbClr val="06B6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69480" y="4892040"/>
            <a:ext cx="7315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Segoe UI"/>
              </a:rPr>
              <a:t>yes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4206240" y="5440679"/>
            <a:ext cx="868679" cy="228601"/>
          </a:xfrm>
          <a:prstGeom prst="line">
            <a:avLst/>
          </a:prstGeom>
          <a:ln w="22225">
            <a:solidFill>
              <a:srgbClr val="EA580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14800" y="4892040"/>
            <a:ext cx="7315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EA580C"/>
                </a:solidFill>
                <a:latin typeface="Segoe UI"/>
              </a:rPr>
              <a:t>no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6675120" y="5760720"/>
            <a:ext cx="3200399" cy="45720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86000" y="5760720"/>
            <a:ext cx="3291840" cy="45720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F46E5"/>
                </a:solidFill>
                <a:latin typeface="Segoe UI"/>
              </a:rPr>
              <a:t>Sequence Diagram — Script-based Release</a:t>
            </a:r>
          </a:p>
          <a:p>
            <a:r>
              <a:rPr sz="1250">
                <a:solidFill>
                  <a:srgbClr val="64748B"/>
                </a:solidFill>
                <a:latin typeface="Segoe UI"/>
              </a:rPr>
              <a:t>Outbound-only agent picks up and executes a release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1F2937"/>
                </a:solidFill>
                <a:latin typeface="Segoe UI"/>
              </a:rPr>
              <a:t>🧑 Operator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34440" y="1691640"/>
            <a:ext cx="0" cy="4617720"/>
          </a:xfrm>
          <a:prstGeom prst="line">
            <a:avLst/>
          </a:prstGeom>
          <a:ln w="15875">
            <a:solidFill>
              <a:srgbClr val="E2E8F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94560" y="105156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1F2937"/>
                </a:solidFill>
                <a:latin typeface="Segoe UI"/>
              </a:rPr>
              <a:t>🌐 Web UI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1691640"/>
            <a:ext cx="0" cy="4617720"/>
          </a:xfrm>
          <a:prstGeom prst="line">
            <a:avLst/>
          </a:prstGeom>
          <a:ln w="15875">
            <a:solidFill>
              <a:srgbClr val="E2E8F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0" y="105156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1F2937"/>
                </a:solidFill>
                <a:latin typeface="Segoe UI"/>
              </a:rPr>
              <a:t>🐍 FastAPI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83480" y="1691640"/>
            <a:ext cx="0" cy="4617720"/>
          </a:xfrm>
          <a:prstGeom prst="line">
            <a:avLst/>
          </a:prstGeom>
          <a:ln w="15875">
            <a:solidFill>
              <a:srgbClr val="E2E8F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35040" y="105156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1F2937"/>
                </a:solidFill>
                <a:latin typeface="Segoe UI"/>
              </a:rPr>
              <a:t>🐘 Database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03720" y="1691640"/>
            <a:ext cx="0" cy="4617720"/>
          </a:xfrm>
          <a:prstGeom prst="line">
            <a:avLst/>
          </a:prstGeom>
          <a:ln w="15875">
            <a:solidFill>
              <a:srgbClr val="E2E8F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55280" y="105156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1F2937"/>
                </a:solidFill>
                <a:latin typeface="Segoe UI"/>
              </a:rPr>
              <a:t>🤖 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23960" y="1691640"/>
            <a:ext cx="0" cy="4617720"/>
          </a:xfrm>
          <a:prstGeom prst="line">
            <a:avLst/>
          </a:prstGeom>
          <a:ln w="15875">
            <a:solidFill>
              <a:srgbClr val="E2E8F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75520" y="105156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1F2937"/>
                </a:solidFill>
                <a:latin typeface="Segoe UI"/>
              </a:rPr>
              <a:t>🖥 Target Server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744200" y="1691640"/>
            <a:ext cx="0" cy="4617720"/>
          </a:xfrm>
          <a:prstGeom prst="line">
            <a:avLst/>
          </a:prstGeom>
          <a:ln w="15875">
            <a:solidFill>
              <a:srgbClr val="E2E8F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34440" y="2057400"/>
            <a:ext cx="1828800" cy="0"/>
          </a:xfrm>
          <a:prstGeom prst="line">
            <a:avLst/>
          </a:prstGeom>
          <a:ln w="20320">
            <a:solidFill>
              <a:srgbClr val="3B82F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1764792"/>
            <a:ext cx="2560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3B82F6"/>
                </a:solidFill>
                <a:latin typeface="Segoe UI"/>
              </a:rPr>
              <a:t>1. Click Deploy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63240" y="2514600"/>
            <a:ext cx="1920240" cy="0"/>
          </a:xfrm>
          <a:prstGeom prst="line">
            <a:avLst/>
          </a:prstGeom>
          <a:ln w="2032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43200" y="2221992"/>
            <a:ext cx="2560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4F46E5"/>
                </a:solidFill>
                <a:latin typeface="Segoe UI"/>
              </a:rPr>
              <a:t>2. POST /releases/{id}/deploy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83480" y="2971800"/>
            <a:ext cx="1920240" cy="0"/>
          </a:xfrm>
          <a:prstGeom prst="line">
            <a:avLst/>
          </a:prstGeom>
          <a:ln w="20320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63440" y="2679192"/>
            <a:ext cx="2560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3. insert release pickup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983480" y="3429000"/>
            <a:ext cx="3840480" cy="0"/>
          </a:xfrm>
          <a:prstGeom prst="line">
            <a:avLst/>
          </a:prstGeom>
          <a:ln w="20320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23560" y="3136392"/>
            <a:ext cx="2560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4. poll pending (HTTPS)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83480" y="3886200"/>
            <a:ext cx="3840480" cy="0"/>
          </a:xfrm>
          <a:prstGeom prst="line">
            <a:avLst/>
          </a:prstGeom>
          <a:ln w="20320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23560" y="3593592"/>
            <a:ext cx="2560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5. pickup + artifacts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3960" y="4343400"/>
            <a:ext cx="1920240" cy="0"/>
          </a:xfrm>
          <a:prstGeom prst="line">
            <a:avLst/>
          </a:prstGeom>
          <a:ln w="20320">
            <a:solidFill>
              <a:srgbClr val="EA580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03919" y="4050791"/>
            <a:ext cx="2560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EA580C"/>
                </a:solidFill>
                <a:latin typeface="Segoe UI"/>
              </a:rPr>
              <a:t>6. run stop/deploy/start scripts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8823960" y="4800600"/>
            <a:ext cx="1920240" cy="0"/>
          </a:xfrm>
          <a:prstGeom prst="line">
            <a:avLst/>
          </a:prstGeom>
          <a:ln w="20320">
            <a:solidFill>
              <a:srgbClr val="EA580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03919" y="4507992"/>
            <a:ext cx="2560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EA580C"/>
                </a:solidFill>
                <a:latin typeface="Segoe UI"/>
              </a:rPr>
              <a:t>7. stdout / exit code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4983480" y="5257800"/>
            <a:ext cx="3840480" cy="0"/>
          </a:xfrm>
          <a:prstGeom prst="line">
            <a:avLst/>
          </a:prstGeom>
          <a:ln w="20320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23560" y="4965192"/>
            <a:ext cx="2560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8. stream logs + status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983480" y="5715000"/>
            <a:ext cx="1920240" cy="0"/>
          </a:xfrm>
          <a:prstGeom prst="line">
            <a:avLst/>
          </a:prstGeom>
          <a:ln w="20320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63440" y="5422392"/>
            <a:ext cx="2560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9. update execution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63240" y="6172200"/>
            <a:ext cx="1920240" cy="0"/>
          </a:xfrm>
          <a:prstGeom prst="line">
            <a:avLst/>
          </a:prstGeom>
          <a:ln w="20320">
            <a:solidFill>
              <a:srgbClr val="4F46E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743200" y="5879592"/>
            <a:ext cx="25603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4F46E5"/>
                </a:solidFill>
                <a:latin typeface="Segoe UI"/>
              </a:rPr>
              <a:t>10. poll status → live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F46E5"/>
                </a:solidFill>
                <a:latin typeface="Segoe UI"/>
              </a:rPr>
              <a:t>Flowchart — Agent Polling Loop</a:t>
            </a:r>
          </a:p>
          <a:p>
            <a:r>
              <a:rPr sz="1250">
                <a:solidFill>
                  <a:srgbClr val="64748B"/>
                </a:solidFill>
                <a:latin typeface="Segoe UI"/>
              </a:rPr>
              <a:t>Continuous background loop on the client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868680"/>
            <a:ext cx="1920240" cy="54864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>
                <a:solidFill>
                  <a:srgbClr val="059669"/>
                </a:solidFill>
                <a:latin typeface="Segoe UI"/>
              </a:rPr>
              <a:t>● Start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600200"/>
            <a:ext cx="2377440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Register with API (retry)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423160"/>
            <a:ext cx="2377440" cy="64008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Set Agent Id / Customer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3246120"/>
            <a:ext cx="2377440" cy="6400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Send Heartbeat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4069080"/>
            <a:ext cx="2377440" cy="640080"/>
          </a:xfrm>
          <a:prstGeom prst="roundRect">
            <a:avLst/>
          </a:prstGeom>
          <a:solidFill>
            <a:srgbClr val="CFFAFE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Report Monitoring Metrics</a:t>
            </a:r>
          </a:p>
        </p:txBody>
      </p:sp>
      <p:sp>
        <p:nvSpPr>
          <p:cNvPr id="9" name="Diamond 8"/>
          <p:cNvSpPr/>
          <p:nvPr/>
        </p:nvSpPr>
        <p:spPr>
          <a:xfrm>
            <a:off x="4937760" y="4892040"/>
            <a:ext cx="228600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1F2937"/>
                </a:solidFill>
                <a:latin typeface="Segoe UI"/>
              </a:rPr>
              <a:t>Pending task /</a:t>
            </a:r>
          </a:p>
          <a:p>
            <a:pPr algn="ctr"/>
            <a:r>
              <a:rPr sz="800" b="0">
                <a:solidFill>
                  <a:srgbClr val="64748B"/>
                </a:solidFill>
                <a:latin typeface="Segoe UI"/>
              </a:rPr>
              <a:t>release / pipeline?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5029200"/>
            <a:ext cx="3200400" cy="6400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1F2937"/>
                </a:solidFill>
                <a:latin typeface="Segoe UI"/>
              </a:rPr>
              <a:t>Pick up · Execute · Stream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6080760"/>
            <a:ext cx="2377440" cy="5486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1F2937"/>
                </a:solidFill>
                <a:latin typeface="Segoe UI"/>
              </a:rPr>
              <a:t>Wait poll interval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59" y="1417320"/>
            <a:ext cx="0" cy="18288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59" y="2240280"/>
            <a:ext cx="0" cy="18288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59" y="3063240"/>
            <a:ext cx="0" cy="18288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59" y="3886200"/>
            <a:ext cx="0" cy="18288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59" y="4709160"/>
            <a:ext cx="1" cy="18288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23760" y="5349240"/>
            <a:ext cx="731519" cy="0"/>
          </a:xfrm>
          <a:prstGeom prst="line">
            <a:avLst/>
          </a:prstGeom>
          <a:ln w="22225">
            <a:solidFill>
              <a:srgbClr val="EA580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69480" y="4800600"/>
            <a:ext cx="7315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EA580C"/>
                </a:solidFill>
                <a:latin typeface="Segoe UI"/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55479" y="5669280"/>
            <a:ext cx="0" cy="685800"/>
          </a:xfrm>
          <a:prstGeom prst="line">
            <a:avLst/>
          </a:prstGeom>
          <a:ln w="22225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269479" y="6355080"/>
            <a:ext cx="2286000" cy="0"/>
          </a:xfrm>
          <a:prstGeom prst="line">
            <a:avLst/>
          </a:prstGeom>
          <a:ln w="22225">
            <a:solidFill>
              <a:srgbClr val="EA580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080759" y="5806440"/>
            <a:ext cx="1" cy="27432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9360" y="5760720"/>
            <a:ext cx="73152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059669"/>
                </a:solidFill>
                <a:latin typeface="Segoe UI"/>
              </a:rP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566160" y="6355080"/>
            <a:ext cx="1325880" cy="0"/>
          </a:xfrm>
          <a:prstGeom prst="line">
            <a:avLst/>
          </a:prstGeom>
          <a:ln w="20320">
            <a:solidFill>
              <a:srgbClr val="4F46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66160" y="3566160"/>
            <a:ext cx="0" cy="2788920"/>
          </a:xfrm>
          <a:prstGeom prst="line">
            <a:avLst/>
          </a:prstGeom>
          <a:ln w="20320">
            <a:solidFill>
              <a:srgbClr val="4F46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66160" y="3566160"/>
            <a:ext cx="1325880" cy="0"/>
          </a:xfrm>
          <a:prstGeom prst="line">
            <a:avLst/>
          </a:prstGeom>
          <a:ln w="2032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68880" y="4297680"/>
            <a:ext cx="128016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900" b="1">
                <a:solidFill>
                  <a:srgbClr val="4F46E5"/>
                </a:solidFill>
                <a:latin typeface="Segoe UI"/>
              </a:rPr>
              <a:t>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F46E5"/>
                </a:solidFill>
                <a:latin typeface="Segoe UI"/>
              </a:rPr>
              <a:t>Class Diagram — Agent Services</a:t>
            </a:r>
          </a:p>
          <a:p>
            <a:r>
              <a:rPr sz="1250">
                <a:solidFill>
                  <a:srgbClr val="64748B"/>
                </a:solidFill>
                <a:latin typeface="Segoe UI"/>
              </a:rPr>
              <a:t>Core .NET agent classes, interfaces and dependencies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051560"/>
            <a:ext cx="3200400" cy="1591056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0" y="1051560"/>
            <a:ext cx="3200400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800" i="1">
                <a:solidFill>
                  <a:srgbClr val="FFFFFF"/>
                </a:solidFill>
                <a:latin typeface="Segoe UI"/>
              </a:rPr>
              <a:t>« BackgroundService »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AgentWorker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618487"/>
            <a:ext cx="3200400" cy="12070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+ ExecuteAsync()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- RegisterWithRetryAsync()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- start all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429000"/>
            <a:ext cx="3200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3429000"/>
            <a:ext cx="320040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800" i="1">
                <a:solidFill>
                  <a:srgbClr val="FFFFFF"/>
                </a:solidFill>
                <a:latin typeface="Segoe UI"/>
              </a:rPr>
              <a:t>« interface »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ICygnetApiClient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995928"/>
            <a:ext cx="3200400" cy="9875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+ Register() / Heartbeat()</a:t>
            </a:r>
          </a:p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+ GetPending…() / Report…()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51560"/>
            <a:ext cx="2743200" cy="1152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2743200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800" i="1">
                <a:solidFill>
                  <a:srgbClr val="FFFFFF"/>
                </a:solidFill>
                <a:latin typeface="Segoe UI"/>
              </a:rPr>
              <a:t>« interface »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IHeartbeatService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18487"/>
            <a:ext cx="2743200" cy="7680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+ StartAsync()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2743200" cy="1152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2743200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800" i="1">
                <a:solidFill>
                  <a:srgbClr val="FFFFFF"/>
                </a:solidFill>
                <a:latin typeface="Segoe UI"/>
              </a:rPr>
              <a:t>« interface »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IMonitoringReportService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52928"/>
            <a:ext cx="2743200" cy="7680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+ StartAsync()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2743200" cy="1152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2743200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800" i="1">
                <a:solidFill>
                  <a:srgbClr val="FFFFFF"/>
                </a:solidFill>
                <a:latin typeface="Segoe UI"/>
              </a:rPr>
              <a:t>« interface »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ITaskExecutionService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087368"/>
            <a:ext cx="2743200" cy="7680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+ StartAsync()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54880"/>
            <a:ext cx="2743200" cy="1152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754880"/>
            <a:ext cx="2743200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800" i="1">
                <a:solidFill>
                  <a:srgbClr val="FFFFFF"/>
                </a:solidFill>
                <a:latin typeface="Segoe UI"/>
              </a:rPr>
              <a:t>« interface »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IReleaseExecutionService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21808"/>
            <a:ext cx="2743200" cy="7680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+ StartAsync()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051560"/>
            <a:ext cx="2743200" cy="1152144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051560"/>
            <a:ext cx="2743200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800" i="1">
                <a:solidFill>
                  <a:srgbClr val="FFFFFF"/>
                </a:solidFill>
                <a:latin typeface="Segoe UI"/>
              </a:rPr>
              <a:t>« interface »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IPipelineExecutionService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618487"/>
            <a:ext cx="2743200" cy="7680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+ StartAsync()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2286000"/>
            <a:ext cx="2743200" cy="1152144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2286000"/>
            <a:ext cx="2743200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800" i="1">
                <a:solidFill>
                  <a:srgbClr val="FFFFFF"/>
                </a:solidFill>
                <a:latin typeface="Segoe UI"/>
              </a:rPr>
              <a:t>« interface »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IFileTransferService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852928"/>
            <a:ext cx="2743200" cy="7680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+ StartAsync()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20440"/>
            <a:ext cx="2743200" cy="1152144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52560" y="3520440"/>
            <a:ext cx="2743200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800" i="1">
                <a:solidFill>
                  <a:srgbClr val="FFFFFF"/>
                </a:solidFill>
                <a:latin typeface="Segoe UI"/>
              </a:rPr>
              <a:t>« interface »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ICommandExecutionService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87368"/>
            <a:ext cx="2743200" cy="7680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+ StartAsync()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4754880"/>
            <a:ext cx="2743200" cy="786383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60" y="4754880"/>
            <a:ext cx="2743200" cy="3840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SubAgentProxyService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5138928"/>
            <a:ext cx="2743200" cy="40233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>
                <a:solidFill>
                  <a:srgbClr val="1F2937"/>
                </a:solidFill>
                <a:latin typeface="Segoe UI"/>
              </a:rPr>
              <a:t>+ HttpListener :5001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80760" y="2532888"/>
            <a:ext cx="0" cy="1078992"/>
          </a:xfrm>
          <a:prstGeom prst="line">
            <a:avLst/>
          </a:prstGeom>
          <a:ln w="1905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17920" y="3063240"/>
            <a:ext cx="1280160" cy="2743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 algn="ctr"/>
            <a:r>
              <a:rPr sz="800" b="1">
                <a:solidFill>
                  <a:srgbClr val="4F46E5"/>
                </a:solidFill>
                <a:latin typeface="Segoe UI"/>
              </a:rPr>
              <a:t>uses ▶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3108960" y="1847088"/>
            <a:ext cx="1371600" cy="347472"/>
          </a:xfrm>
          <a:prstGeom prst="line">
            <a:avLst/>
          </a:prstGeom>
          <a:ln w="127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60" y="1847088"/>
            <a:ext cx="1371600" cy="347472"/>
          </a:xfrm>
          <a:prstGeom prst="line">
            <a:avLst/>
          </a:prstGeom>
          <a:ln w="127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